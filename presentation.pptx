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3" d="100"/>
          <a:sy n="93" d="100"/>
        </p:scale>
        <p:origin x="7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48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84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086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3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2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0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1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5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1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7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4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39FEDF4-254E-4F0F-922E-6D88ACF5B6D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A2E483-4A82-431F-A171-E7C2069F11F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44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0E76-0C98-B0E3-FDDD-B19F78601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Analiza ponavljajućih sekvenci u nukleotidnim sekvencama hantavirusa</a:t>
            </a:r>
            <a:r>
              <a:rPr lang="sr-Latn-RS" sz="6000" dirty="0"/>
              <a:t> preko klasterovanja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2643E-CF13-624D-DEA4-03433A8716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STEFAN JEVTI</a:t>
            </a:r>
            <a:r>
              <a:rPr lang="sr-Latn-RS" sz="2000" dirty="0"/>
              <a:t>Ć MI241043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99781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AF04-864C-7CC0-8E15-A16D790A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Ulazni podaci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744B3-F2FC-74DF-6ACF-39BA6C0C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sz="2500" dirty="0"/>
              <a:t>Obrađene vrste Hantavirusa:</a:t>
            </a:r>
          </a:p>
          <a:p>
            <a:pPr lvl="1"/>
            <a:r>
              <a:rPr lang="sr-Latn-RS" sz="2500" dirty="0"/>
              <a:t>Hantaan virus (Orthohantavirus hantanense)</a:t>
            </a:r>
          </a:p>
          <a:p>
            <a:pPr lvl="1"/>
            <a:r>
              <a:rPr lang="sr-Latn-RS" sz="2500" dirty="0"/>
              <a:t>Dobrava-Belgrade virus (Orthohantavirus dobravaense)</a:t>
            </a:r>
          </a:p>
          <a:p>
            <a:pPr lvl="1"/>
            <a:r>
              <a:rPr lang="sr-Latn-RS" sz="2500" dirty="0"/>
              <a:t>Puumala virus (Orthohantavirus puumalaense)</a:t>
            </a:r>
          </a:p>
          <a:p>
            <a:pPr lvl="1"/>
            <a:r>
              <a:rPr lang="sr-Latn-RS" sz="2500" dirty="0"/>
              <a:t>Sin Nombre virus (Orthohantavirus sinnombreense)</a:t>
            </a:r>
          </a:p>
          <a:p>
            <a:pPr lvl="1"/>
            <a:endParaRPr lang="sr-Latn-RS" sz="2500" dirty="0"/>
          </a:p>
          <a:p>
            <a:pPr marL="201168" lvl="1" indent="0">
              <a:buNone/>
            </a:pPr>
            <a:r>
              <a:rPr lang="sr-Latn-RS" sz="2500" dirty="0"/>
              <a:t>Podaci su preuzeti sa portala NCBI Virus</a:t>
            </a:r>
          </a:p>
          <a:p>
            <a:pPr lvl="1"/>
            <a:endParaRPr lang="sr-Latn-RS" sz="2500" dirty="0"/>
          </a:p>
        </p:txBody>
      </p:sp>
    </p:spTree>
    <p:extLst>
      <p:ext uri="{BB962C8B-B14F-4D97-AF65-F5344CB8AC3E}">
        <p14:creationId xmlns:p14="http://schemas.microsoft.com/office/powerpoint/2010/main" val="80945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0B92A-515E-522D-F434-219938260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Korišćeni skupovi 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C416A-B9F8-5393-CBDD-FDFC3687E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sr-Latn-RS" sz="2500" dirty="0"/>
              <a:t>Korišćeni su sledeći skupovi podataka, preuzeti sa NCBI portala:</a:t>
            </a:r>
          </a:p>
          <a:p>
            <a:pPr lvl="1"/>
            <a:r>
              <a:rPr lang="sr-Latn-RS" sz="2500" dirty="0"/>
              <a:t>All sequences – skup koji sadrži sve sekvence</a:t>
            </a:r>
          </a:p>
          <a:p>
            <a:pPr lvl="1"/>
            <a:r>
              <a:rPr lang="sr-Latn-RS" sz="2500" dirty="0"/>
              <a:t>Complete sequences – skup koji sadrži samo kompletne sekvence</a:t>
            </a:r>
          </a:p>
          <a:p>
            <a:pPr lvl="1"/>
            <a:endParaRPr lang="sr-Latn-RS" sz="2500" dirty="0"/>
          </a:p>
          <a:p>
            <a:pPr marL="201168" lvl="1" indent="0">
              <a:buNone/>
            </a:pPr>
            <a:endParaRPr lang="sr-Latn-RS" sz="2500" dirty="0"/>
          </a:p>
        </p:txBody>
      </p:sp>
    </p:spTree>
    <p:extLst>
      <p:ext uri="{BB962C8B-B14F-4D97-AF65-F5344CB8AC3E}">
        <p14:creationId xmlns:p14="http://schemas.microsoft.com/office/powerpoint/2010/main" val="674928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AD08-80C8-3B97-AE6C-8DDB34A6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Preprocesiranje 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030F8-3822-A7FB-B6A6-FF1ACA687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sr-Latn-RS" sz="2500" dirty="0"/>
              <a:t>Eliminacija visoko koreliranih atributa</a:t>
            </a:r>
          </a:p>
          <a:p>
            <a:pPr lvl="1"/>
            <a:r>
              <a:rPr lang="sr-Latn-RS" sz="2500" dirty="0"/>
              <a:t>Standardizacija</a:t>
            </a:r>
          </a:p>
          <a:p>
            <a:pPr lvl="1"/>
            <a:r>
              <a:rPr lang="sr-Latn-RS" sz="2500" dirty="0"/>
              <a:t>Uzorkovanje (SMOTE)</a:t>
            </a:r>
          </a:p>
          <a:p>
            <a:pPr lvl="1"/>
            <a:r>
              <a:rPr lang="sr-Latn-RS" sz="2500" dirty="0"/>
              <a:t>Redukcija dimenzionalnosti (PCA)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417359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241D-E2E5-12FF-6AB7-6C969E02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Korišćeni modeli klasterovanja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B0810-B033-2E1C-01BB-7B5B76A0E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sr-Latn-RS" sz="2500" dirty="0"/>
              <a:t>K-Means</a:t>
            </a:r>
          </a:p>
          <a:p>
            <a:pPr lvl="1"/>
            <a:r>
              <a:rPr lang="sr-Latn-RS" sz="2500" dirty="0"/>
              <a:t>DBSCAN</a:t>
            </a:r>
          </a:p>
          <a:p>
            <a:pPr lvl="1"/>
            <a:r>
              <a:rPr lang="sr-Latn-RS" sz="2500" dirty="0"/>
              <a:t>Agglomerative Clustering</a:t>
            </a:r>
          </a:p>
          <a:p>
            <a:pPr lvl="1"/>
            <a:r>
              <a:rPr lang="sr-Latn-RS" sz="2500" dirty="0"/>
              <a:t>Spectral Clustering</a:t>
            </a:r>
          </a:p>
          <a:p>
            <a:pPr lvl="1"/>
            <a:r>
              <a:rPr lang="sr-Latn-RS" sz="2500" dirty="0"/>
              <a:t>Gaussian Mixture Models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01103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706D-4D6A-4765-0EC7-79A0AE7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Varijacija hiperparametara modela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1DD1-E38A-6FA9-06B9-0F406EC4E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sr-Latn-RS" dirty="0"/>
              <a:t>Za skup All Sequences su izabrani hiperparametri i</a:t>
            </a:r>
            <a:r>
              <a:rPr lang="en-US" dirty="0"/>
              <a:t>z sl</a:t>
            </a:r>
            <a:r>
              <a:rPr lang="sr-Latn-RS" dirty="0"/>
              <a:t>edećih opsega vrednosti:</a:t>
            </a:r>
          </a:p>
          <a:p>
            <a:pPr lvl="1"/>
            <a:r>
              <a:rPr lang="en-US" dirty="0"/>
              <a:t>K-Means</a:t>
            </a:r>
            <a:r>
              <a:rPr lang="sr-Latn-RS" dirty="0"/>
              <a:t>: </a:t>
            </a:r>
            <a:r>
              <a:rPr lang="en-US" dirty="0"/>
              <a:t>"n_init": [10, 20, 50]</a:t>
            </a:r>
            <a:endParaRPr lang="sr-Latn-RS" dirty="0"/>
          </a:p>
          <a:p>
            <a:pPr lvl="1"/>
            <a:r>
              <a:rPr lang="en-US" dirty="0"/>
              <a:t>DBSCAN</a:t>
            </a:r>
            <a:r>
              <a:rPr lang="sr-Latn-RS" dirty="0"/>
              <a:t>:</a:t>
            </a:r>
          </a:p>
          <a:p>
            <a:pPr lvl="2"/>
            <a:r>
              <a:rPr lang="en-US" dirty="0"/>
              <a:t>"eps": [0.2, 0.4, 0.6, 0.8, 1.0],</a:t>
            </a:r>
            <a:endParaRPr lang="sr-Latn-RS" dirty="0"/>
          </a:p>
          <a:p>
            <a:pPr lvl="2"/>
            <a:r>
              <a:rPr lang="en-US" dirty="0"/>
              <a:t>"min_samples": [20, 40, 80],</a:t>
            </a:r>
            <a:endParaRPr lang="sr-Latn-RS" dirty="0"/>
          </a:p>
          <a:p>
            <a:pPr lvl="2"/>
            <a:r>
              <a:rPr lang="en-US" dirty="0"/>
              <a:t>"metric": ["euclidean", "manhattan"]</a:t>
            </a:r>
            <a:endParaRPr lang="sr-Latn-RS" dirty="0"/>
          </a:p>
          <a:p>
            <a:pPr lvl="1"/>
            <a:r>
              <a:rPr lang="en-US" dirty="0"/>
              <a:t>Agglomerative Clustering: "linkage": ["ward", "average", "complete"]</a:t>
            </a:r>
            <a:endParaRPr lang="sr-Latn-RS" dirty="0"/>
          </a:p>
          <a:p>
            <a:pPr lvl="1"/>
            <a:r>
              <a:rPr lang="en-US" dirty="0"/>
              <a:t>Spectral Clustering</a:t>
            </a:r>
            <a:r>
              <a:rPr lang="sr-Latn-RS" dirty="0"/>
              <a:t>:</a:t>
            </a:r>
          </a:p>
          <a:p>
            <a:pPr lvl="2"/>
            <a:r>
              <a:rPr lang="en-US" dirty="0"/>
              <a:t>"affinity": ["nearest_neighbors", "rbf"],</a:t>
            </a:r>
            <a:endParaRPr lang="sr-Latn-RS" dirty="0"/>
          </a:p>
          <a:p>
            <a:pPr lvl="2"/>
            <a:r>
              <a:rPr lang="en-US" dirty="0"/>
              <a:t>"n_neighbors": [20, 40, 60]</a:t>
            </a:r>
            <a:endParaRPr lang="sr-Latn-RS" dirty="0"/>
          </a:p>
          <a:p>
            <a:pPr lvl="1"/>
            <a:r>
              <a:rPr lang="en-US" dirty="0"/>
              <a:t>Gaussian Mixture Models</a:t>
            </a:r>
            <a:r>
              <a:rPr lang="sr-Latn-RS" dirty="0"/>
              <a:t>: </a:t>
            </a:r>
            <a:r>
              <a:rPr lang="en-US" dirty="0"/>
              <a:t>"covariance_type": ["full",</a:t>
            </a:r>
            <a:r>
              <a:rPr lang="sr-Latn-RS" dirty="0"/>
              <a:t> </a:t>
            </a:r>
            <a:r>
              <a:rPr lang="en-US" dirty="0"/>
              <a:t>"diag",</a:t>
            </a:r>
            <a:r>
              <a:rPr lang="sr-Latn-RS" dirty="0"/>
              <a:t> </a:t>
            </a:r>
            <a:r>
              <a:rPr lang="en-US" dirty="0"/>
              <a:t>"tied",</a:t>
            </a:r>
            <a:r>
              <a:rPr lang="sr-Latn-RS" dirty="0"/>
              <a:t> </a:t>
            </a:r>
            <a:r>
              <a:rPr lang="en-US" dirty="0"/>
              <a:t>"spherical"]</a:t>
            </a:r>
          </a:p>
          <a:p>
            <a:endParaRPr lang="sr-Latn-R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707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00BCB-95BF-FA4A-5FE1-9110332A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Varijacija hiperparametara modela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46ABC-A603-1251-C11F-E60B13476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905" y="1845734"/>
            <a:ext cx="10058400" cy="4023360"/>
          </a:xfrm>
        </p:spPr>
        <p:txBody>
          <a:bodyPr/>
          <a:lstStyle/>
          <a:p>
            <a:r>
              <a:rPr lang="sr-Latn-RS" dirty="0"/>
              <a:t>Za skup Complete Sequences su izabrani hiperparametri i</a:t>
            </a:r>
            <a:r>
              <a:rPr lang="en-US" dirty="0"/>
              <a:t>z sl</a:t>
            </a:r>
            <a:r>
              <a:rPr lang="sr-Latn-RS" dirty="0"/>
              <a:t>edećih opsega vrednosti:</a:t>
            </a:r>
          </a:p>
          <a:p>
            <a:pPr lvl="1"/>
            <a:r>
              <a:rPr lang="en-US" dirty="0"/>
              <a:t>K-Means</a:t>
            </a:r>
            <a:r>
              <a:rPr lang="sr-Latn-RS" dirty="0"/>
              <a:t>: </a:t>
            </a:r>
            <a:r>
              <a:rPr lang="en-US" dirty="0"/>
              <a:t>"n_init": [</a:t>
            </a:r>
            <a:r>
              <a:rPr lang="sr-Latn-RS" dirty="0"/>
              <a:t>5</a:t>
            </a:r>
            <a:r>
              <a:rPr lang="en-US" dirty="0"/>
              <a:t>,</a:t>
            </a:r>
            <a:r>
              <a:rPr lang="sr-Latn-RS" dirty="0"/>
              <a:t> 10</a:t>
            </a:r>
            <a:r>
              <a:rPr lang="en-US" dirty="0"/>
              <a:t>]</a:t>
            </a:r>
            <a:endParaRPr lang="sr-Latn-RS" dirty="0"/>
          </a:p>
          <a:p>
            <a:pPr lvl="1"/>
            <a:r>
              <a:rPr lang="en-US" dirty="0"/>
              <a:t>DBSCAN</a:t>
            </a:r>
            <a:r>
              <a:rPr lang="sr-Latn-RS" dirty="0"/>
              <a:t>:</a:t>
            </a:r>
          </a:p>
          <a:p>
            <a:pPr lvl="2"/>
            <a:r>
              <a:rPr lang="en-US" dirty="0"/>
              <a:t>"min_samples": [</a:t>
            </a:r>
            <a:r>
              <a:rPr lang="sr-Latn-RS" dirty="0"/>
              <a:t>3</a:t>
            </a:r>
            <a:r>
              <a:rPr lang="en-US" dirty="0"/>
              <a:t>0, </a:t>
            </a:r>
            <a:r>
              <a:rPr lang="sr-Latn-RS" dirty="0"/>
              <a:t>6</a:t>
            </a:r>
            <a:r>
              <a:rPr lang="en-US" dirty="0"/>
              <a:t>0, </a:t>
            </a:r>
            <a:r>
              <a:rPr lang="sr-Latn-RS" dirty="0"/>
              <a:t>12</a:t>
            </a:r>
            <a:r>
              <a:rPr lang="en-US" dirty="0"/>
              <a:t>0],</a:t>
            </a:r>
            <a:endParaRPr lang="sr-Latn-RS" dirty="0"/>
          </a:p>
          <a:p>
            <a:pPr lvl="2"/>
            <a:r>
              <a:rPr lang="en-US" dirty="0"/>
              <a:t>"metric": ["euclidean", "manhattan ", "</a:t>
            </a:r>
            <a:r>
              <a:rPr lang="sr-Latn-RS" dirty="0"/>
              <a:t>cosine</a:t>
            </a:r>
            <a:r>
              <a:rPr lang="en-US" dirty="0"/>
              <a:t>"]</a:t>
            </a:r>
            <a:endParaRPr lang="sr-Latn-RS" dirty="0"/>
          </a:p>
          <a:p>
            <a:pPr lvl="1"/>
            <a:r>
              <a:rPr lang="en-US" dirty="0"/>
              <a:t>Agglomerative Clustering: "linkage": ["ward", "average", "complete"]</a:t>
            </a:r>
            <a:endParaRPr lang="sr-Latn-RS" dirty="0"/>
          </a:p>
          <a:p>
            <a:pPr lvl="1"/>
            <a:r>
              <a:rPr lang="en-US" dirty="0"/>
              <a:t>Spectral Clustering</a:t>
            </a:r>
            <a:r>
              <a:rPr lang="sr-Latn-RS" dirty="0"/>
              <a:t>:</a:t>
            </a:r>
          </a:p>
          <a:p>
            <a:pPr lvl="2"/>
            <a:r>
              <a:rPr lang="en-US" dirty="0"/>
              <a:t>"affinity": ["nearest_neighbors", "rbf"],</a:t>
            </a:r>
            <a:endParaRPr lang="sr-Latn-RS" dirty="0"/>
          </a:p>
          <a:p>
            <a:pPr lvl="2"/>
            <a:r>
              <a:rPr lang="en-US" dirty="0"/>
              <a:t>"n_neighbors": [20, 40, </a:t>
            </a:r>
            <a:r>
              <a:rPr lang="sr-Latn-RS" dirty="0"/>
              <a:t>8</a:t>
            </a:r>
            <a:r>
              <a:rPr lang="en-US" dirty="0"/>
              <a:t>0]</a:t>
            </a:r>
            <a:endParaRPr lang="sr-Latn-RS" dirty="0"/>
          </a:p>
          <a:p>
            <a:pPr lvl="1"/>
            <a:r>
              <a:rPr lang="en-US" dirty="0"/>
              <a:t>Gaussian Mixture Models</a:t>
            </a:r>
            <a:r>
              <a:rPr lang="sr-Latn-RS" dirty="0"/>
              <a:t>: </a:t>
            </a:r>
            <a:r>
              <a:rPr lang="en-US" dirty="0"/>
              <a:t>"covariance_type": ["full",</a:t>
            </a:r>
            <a:r>
              <a:rPr lang="sr-Latn-RS" dirty="0"/>
              <a:t> </a:t>
            </a:r>
            <a:r>
              <a:rPr lang="en-US" dirty="0"/>
              <a:t>"spherical"]</a:t>
            </a: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21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F08B-23FE-196C-A1E2-F1CB42DD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Metrike evaluacije kvaliteta modela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B1C0F-555D-203C-C1F5-8EC9A7072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sr-Latn-RS" sz="2500" dirty="0"/>
              <a:t>Silueta koeficijent: </a:t>
            </a:r>
            <a:r>
              <a:rPr lang="en-US" sz="2500" dirty="0"/>
              <a:t>score = </a:t>
            </a:r>
            <a:r>
              <a:rPr lang="sr-Latn-RS" sz="2500" dirty="0"/>
              <a:t>(b</a:t>
            </a:r>
            <a:r>
              <a:rPr lang="sr-Latn-RS" sz="2500" baseline="-25000" dirty="0"/>
              <a:t>i</a:t>
            </a:r>
            <a:r>
              <a:rPr lang="sr-Latn-RS" sz="2500" dirty="0"/>
              <a:t> - a</a:t>
            </a:r>
            <a:r>
              <a:rPr lang="sr-Latn-RS" sz="2500" baseline="-25000" dirty="0"/>
              <a:t>i</a:t>
            </a:r>
            <a:r>
              <a:rPr lang="sr-Latn-RS" sz="2500" dirty="0"/>
              <a:t>) </a:t>
            </a:r>
            <a:r>
              <a:rPr lang="en-US" sz="2500" dirty="0"/>
              <a:t>/ max(a</a:t>
            </a:r>
            <a:r>
              <a:rPr lang="en-US" sz="2500" baseline="-25000" dirty="0"/>
              <a:t>i</a:t>
            </a:r>
            <a:r>
              <a:rPr lang="en-US" sz="2500" dirty="0"/>
              <a:t>, b</a:t>
            </a:r>
            <a:r>
              <a:rPr lang="en-US" sz="2500" baseline="-25000" dirty="0"/>
              <a:t>i</a:t>
            </a:r>
            <a:r>
              <a:rPr lang="en-US" sz="2500" dirty="0"/>
              <a:t>)</a:t>
            </a:r>
            <a:endParaRPr lang="sr-Latn-RS" sz="2500" dirty="0"/>
          </a:p>
          <a:p>
            <a:pPr lvl="1"/>
            <a:r>
              <a:rPr lang="sr-Latn-RS" sz="2500" dirty="0"/>
              <a:t>Davies Bouldin indeks</a:t>
            </a:r>
            <a:r>
              <a:rPr lang="en-US" sz="2500" dirty="0"/>
              <a:t>: score = 1/k * ∑ max((S</a:t>
            </a:r>
            <a:r>
              <a:rPr lang="en-US" sz="2500" baseline="-25000" dirty="0"/>
              <a:t>i</a:t>
            </a:r>
            <a:r>
              <a:rPr lang="en-US" sz="2500" dirty="0"/>
              <a:t> + S</a:t>
            </a:r>
            <a:r>
              <a:rPr lang="en-US" sz="2500" baseline="-25000" dirty="0"/>
              <a:t>j </a:t>
            </a:r>
            <a:r>
              <a:rPr lang="en-US" sz="2500" dirty="0"/>
              <a:t>) / M</a:t>
            </a:r>
            <a:r>
              <a:rPr lang="en-US" sz="2500" baseline="-25000" dirty="0"/>
              <a:t>ij</a:t>
            </a:r>
            <a:r>
              <a:rPr lang="en-US" sz="2500" dirty="0"/>
              <a:t>)</a:t>
            </a:r>
            <a:endParaRPr lang="sr-Latn-RS" sz="2500" dirty="0"/>
          </a:p>
          <a:p>
            <a:pPr lvl="1"/>
            <a:r>
              <a:rPr lang="sr-Latn-RS" sz="2500" dirty="0"/>
              <a:t>Calinski Harabasz indeks</a:t>
            </a:r>
            <a:r>
              <a:rPr lang="en-US" sz="2500" dirty="0"/>
              <a:t>: score = (BSS/ (k-1)) / (WSS / (N-k))</a:t>
            </a:r>
          </a:p>
        </p:txBody>
      </p:sp>
    </p:spTree>
    <p:extLst>
      <p:ext uri="{BB962C8B-B14F-4D97-AF65-F5344CB8AC3E}">
        <p14:creationId xmlns:p14="http://schemas.microsoft.com/office/powerpoint/2010/main" val="379649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232F-3B00-1E71-C912-124484C1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All Sequences bez dimenzione redukcije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22F257-C440-465D-50F0-10EEB1C16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1" y="2394602"/>
            <a:ext cx="10285644" cy="272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51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A9F97-6EF0-D2E5-50A5-EBEE27E53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All Sequences bez dimenzione redukcije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3BA47F-7DC3-3E60-081E-1052E475A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6999" y="1806113"/>
            <a:ext cx="9738002" cy="377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21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A456-44CD-0DE5-2D6A-9150EC548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All Sequences bez dimenzione redukcije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B74AD7-1C8D-C5CC-183A-DABB4550B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350" y="1925053"/>
            <a:ext cx="9751158" cy="4241990"/>
          </a:xfrm>
        </p:spPr>
      </p:pic>
    </p:spTree>
    <p:extLst>
      <p:ext uri="{BB962C8B-B14F-4D97-AF65-F5344CB8AC3E}">
        <p14:creationId xmlns:p14="http://schemas.microsoft.com/office/powerpoint/2010/main" val="183440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9E46-2A15-B136-081D-F9A5953FE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All Sequences uz dimenzionu redukciju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437DBD-1A44-DB13-08C4-69E3EE861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484583"/>
            <a:ext cx="10425535" cy="274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16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A2BA-282E-27E9-C5F2-6FCAB40E8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All Sequences uz dimenzionu redukciju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64A8C6-2DBF-0BE0-F21B-95D3E54C2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73179"/>
            <a:ext cx="9561851" cy="375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90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6DD8-509F-5935-B14B-3602B92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All Sequences uz dimenzionu redukciju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8FD861-EC72-FA47-2328-7DF33F8D1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721" y="1874863"/>
            <a:ext cx="9398557" cy="4340306"/>
          </a:xfrm>
        </p:spPr>
      </p:pic>
    </p:spTree>
    <p:extLst>
      <p:ext uri="{BB962C8B-B14F-4D97-AF65-F5344CB8AC3E}">
        <p14:creationId xmlns:p14="http://schemas.microsoft.com/office/powerpoint/2010/main" val="170941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CBE2-3308-395C-0999-5C992B81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Rezultati nad skupom </a:t>
            </a:r>
            <a:r>
              <a:rPr lang="sr-Latn-RS" dirty="0"/>
              <a:t>Complete </a:t>
            </a:r>
            <a:r>
              <a:rPr lang="en-US" dirty="0"/>
              <a:t>Sequences bez dimenzione redukcije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208A37-3E79-4BE9-5924-8B5F2BAD4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95083"/>
            <a:ext cx="10274281" cy="261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59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11895-72C4-F7AE-F255-2BE87D70C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</a:t>
            </a:r>
            <a:r>
              <a:rPr lang="sr-Latn-RS" dirty="0"/>
              <a:t>Complete </a:t>
            </a:r>
            <a:r>
              <a:rPr lang="en-US" dirty="0"/>
              <a:t>Sequences bez dimenzione redukcije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560EAB4-FD28-D805-BD5F-F57995A38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80" y="1737360"/>
            <a:ext cx="10820240" cy="421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11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A3E2-AD40-60DB-4A18-D7B8BF94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</a:t>
            </a:r>
            <a:r>
              <a:rPr lang="sr-Latn-RS" dirty="0"/>
              <a:t>Complete </a:t>
            </a:r>
            <a:r>
              <a:rPr lang="en-US" dirty="0"/>
              <a:t>Sequences bez dimenzione redukcije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A8A66E-1F79-22B9-68A9-3BBC9B575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350" y="1880638"/>
            <a:ext cx="9460259" cy="4320781"/>
          </a:xfrm>
        </p:spPr>
      </p:pic>
    </p:spTree>
    <p:extLst>
      <p:ext uri="{BB962C8B-B14F-4D97-AF65-F5344CB8AC3E}">
        <p14:creationId xmlns:p14="http://schemas.microsoft.com/office/powerpoint/2010/main" val="3234103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13820-6849-2F65-0CD5-3A1D7FF72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</a:t>
            </a:r>
            <a:r>
              <a:rPr lang="sr-Latn-RS" dirty="0"/>
              <a:t>Complete </a:t>
            </a:r>
            <a:r>
              <a:rPr lang="en-US" dirty="0"/>
              <a:t>Sequences </a:t>
            </a:r>
            <a:r>
              <a:rPr lang="sr-Latn-RS" dirty="0"/>
              <a:t>uz</a:t>
            </a:r>
            <a:r>
              <a:rPr lang="en-US" dirty="0"/>
              <a:t> dimenzion</a:t>
            </a:r>
            <a:r>
              <a:rPr lang="sr-Latn-RS" dirty="0"/>
              <a:t>u</a:t>
            </a:r>
            <a:r>
              <a:rPr lang="en-US" dirty="0"/>
              <a:t> redukcij</a:t>
            </a:r>
            <a:r>
              <a:rPr lang="sr-Latn-RS" dirty="0"/>
              <a:t>u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FB6D99-1458-45D4-9ADB-FC26108F4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531299"/>
            <a:ext cx="10404909" cy="264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14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55ED-D4CC-90EC-233E-38E264F8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</a:t>
            </a:r>
            <a:r>
              <a:rPr lang="sr-Latn-RS" dirty="0"/>
              <a:t>Complete </a:t>
            </a:r>
            <a:r>
              <a:rPr lang="en-US" dirty="0"/>
              <a:t>Sequences </a:t>
            </a:r>
            <a:r>
              <a:rPr lang="sr-Latn-RS" dirty="0"/>
              <a:t>uz</a:t>
            </a:r>
            <a:r>
              <a:rPr lang="en-US" dirty="0"/>
              <a:t> dimenzion</a:t>
            </a:r>
            <a:r>
              <a:rPr lang="sr-Latn-RS" dirty="0"/>
              <a:t>u</a:t>
            </a:r>
            <a:r>
              <a:rPr lang="en-US" dirty="0"/>
              <a:t> redukcij</a:t>
            </a:r>
            <a:r>
              <a:rPr lang="sr-Latn-RS" dirty="0"/>
              <a:t>u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D4A89E-A118-E0EB-10E0-D5DAED53EB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942" y="1897552"/>
            <a:ext cx="10117075" cy="39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79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8E8D-0EB2-0ED5-2F8B-24CB05981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Rezultati nad skupom </a:t>
            </a:r>
            <a:r>
              <a:rPr lang="sr-Latn-RS" dirty="0"/>
              <a:t>Complete </a:t>
            </a:r>
            <a:r>
              <a:rPr lang="en-US" dirty="0"/>
              <a:t>Sequences </a:t>
            </a:r>
            <a:r>
              <a:rPr lang="sr-Latn-RS" dirty="0"/>
              <a:t>uz</a:t>
            </a:r>
            <a:r>
              <a:rPr lang="en-US" dirty="0"/>
              <a:t> dimenzion</a:t>
            </a:r>
            <a:r>
              <a:rPr lang="sr-Latn-RS" dirty="0"/>
              <a:t>u</a:t>
            </a:r>
            <a:r>
              <a:rPr lang="en-US" dirty="0"/>
              <a:t> redukcij</a:t>
            </a:r>
            <a:r>
              <a:rPr lang="sr-Latn-RS" dirty="0"/>
              <a:t>u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228240-CA38-EE4F-9453-229603EF1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881" y="1918177"/>
            <a:ext cx="9469295" cy="4198317"/>
          </a:xfrm>
        </p:spPr>
      </p:pic>
    </p:spTree>
    <p:extLst>
      <p:ext uri="{BB962C8B-B14F-4D97-AF65-F5344CB8AC3E}">
        <p14:creationId xmlns:p14="http://schemas.microsoft.com/office/powerpoint/2010/main" val="3517439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5971-24BD-0602-2511-57C9BDAB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582491"/>
          </a:xfrm>
        </p:spPr>
        <p:txBody>
          <a:bodyPr>
            <a:normAutofit/>
          </a:bodyPr>
          <a:lstStyle/>
          <a:p>
            <a:pPr algn="ctr"/>
            <a:br>
              <a:rPr lang="sr-Latn-RS" sz="8000" dirty="0"/>
            </a:br>
            <a:r>
              <a:rPr lang="en-US" sz="8000" dirty="0"/>
              <a:t>Hvala na pa</a:t>
            </a:r>
            <a:r>
              <a:rPr lang="sr-Latn-RS" sz="8000" dirty="0"/>
              <a:t>žnji!</a:t>
            </a:r>
            <a:br>
              <a:rPr lang="sr-Latn-RS" sz="8000" dirty="0"/>
            </a:br>
            <a:br>
              <a:rPr lang="sr-Latn-RS" sz="8000" dirty="0"/>
            </a:b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7119941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346</TotalTime>
  <Words>525</Words>
  <Application>Microsoft Office PowerPoint</Application>
  <PresentationFormat>Widescreen</PresentationFormat>
  <Paragraphs>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Calibri</vt:lpstr>
      <vt:lpstr>Calibri Light</vt:lpstr>
      <vt:lpstr>Retrospect</vt:lpstr>
      <vt:lpstr>Analiza ponavljajućih sekvenci u nukleotidnim sekvencama hantavirusa preko klasterovanja</vt:lpstr>
      <vt:lpstr>Ulazni podaci</vt:lpstr>
      <vt:lpstr>Korišćeni skupovi podataka</vt:lpstr>
      <vt:lpstr>Preprocesiranje podataka</vt:lpstr>
      <vt:lpstr>Korišćeni modeli klasterovanja</vt:lpstr>
      <vt:lpstr>Varijacija hiperparametara modela</vt:lpstr>
      <vt:lpstr>Varijacija hiperparametara modela</vt:lpstr>
      <vt:lpstr>Metrike evaluacije kvaliteta modela</vt:lpstr>
      <vt:lpstr>Rezultati nad skupom All Sequences bez dimenzione redukcije</vt:lpstr>
      <vt:lpstr>Rezultati nad skupom All Sequences bez dimenzione redukcije</vt:lpstr>
      <vt:lpstr>Rezultati nad skupom All Sequences bez dimenzione redukcije</vt:lpstr>
      <vt:lpstr>Rezultati nad skupom All Sequences uz dimenzionu redukciju</vt:lpstr>
      <vt:lpstr>Rezultati nad skupom All Sequences uz dimenzionu redukciju</vt:lpstr>
      <vt:lpstr>Rezultati nad skupom All Sequences uz dimenzionu redukciju</vt:lpstr>
      <vt:lpstr>Rezultati nad skupom Complete Sequences bez dimenzione redukcije</vt:lpstr>
      <vt:lpstr>Rezultati nad skupom Complete Sequences bez dimenzione redukcije</vt:lpstr>
      <vt:lpstr>Rezultati nad skupom Complete Sequences bez dimenzione redukcije</vt:lpstr>
      <vt:lpstr>Rezultati nad skupom Complete Sequences uz dimenzionu redukciju</vt:lpstr>
      <vt:lpstr>Rezultati nad skupom Complete Sequences uz dimenzionu redukciju</vt:lpstr>
      <vt:lpstr>Rezultati nad skupom Complete Sequences uz dimenzionu redukciju</vt:lpstr>
      <vt:lpstr> Hvala na pažnji!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Jevtic</dc:creator>
  <cp:lastModifiedBy>Stefan Jevtic</cp:lastModifiedBy>
  <cp:revision>2</cp:revision>
  <dcterms:created xsi:type="dcterms:W3CDTF">2026-07-18T21:42:56Z</dcterms:created>
  <dcterms:modified xsi:type="dcterms:W3CDTF">2026-07-19T17:27:06Z</dcterms:modified>
</cp:coreProperties>
</file>